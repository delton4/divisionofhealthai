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34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184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386240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A3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DataForSite.xlsx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17830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A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Editing Guide for Researchers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2468880"/>
            <a:ext cx="2743200" cy="36576"/>
          </a:xfrm>
          <a:prstGeom prst="rect">
            <a:avLst/>
          </a:prstGeom>
          <a:solidFill>
            <a:srgbClr val="00A3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Northwell Health   |   Division of Health Artificial Intelligence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292608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add and update your information in the shared spreadsheet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14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45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This Guide Covers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463040"/>
            <a:ext cx="365760" cy="365760"/>
          </a:xfrm>
          <a:prstGeom prst="ellipse">
            <a:avLst/>
          </a:prstGeom>
          <a:solidFill>
            <a:srgbClr val="4472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88720" y="14173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the Spreadsheet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88720" y="167335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sheets, how they connect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40080" y="1965960"/>
            <a:ext cx="365760" cy="365760"/>
          </a:xfrm>
          <a:prstGeom prst="ellipse">
            <a:avLst/>
          </a:prstGeom>
          <a:solidFill>
            <a:srgbClr val="4472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0080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188720" y="19202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Yourself as a Researcher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88720" y="217627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in your row on the Researchers sheet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0080" y="2468880"/>
            <a:ext cx="365760" cy="365760"/>
          </a:xfrm>
          <a:prstGeom prst="ellipse">
            <a:avLst/>
          </a:prstGeom>
          <a:solidFill>
            <a:srgbClr val="4472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080" y="2468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188720" y="24231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a Project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88720" y="267919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new project entry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0080" y="2971800"/>
            <a:ext cx="365760" cy="365760"/>
          </a:xfrm>
          <a:prstGeom prst="ellipse">
            <a:avLst/>
          </a:prstGeom>
          <a:solidFill>
            <a:srgbClr val="4472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40080" y="2971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188720" y="29260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a Publication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88720" y="318211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a new paper or article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40080" y="3474720"/>
            <a:ext cx="365760" cy="365760"/>
          </a:xfrm>
          <a:prstGeom prst="ellipse">
            <a:avLst/>
          </a:prstGeom>
          <a:solidFill>
            <a:srgbClr val="4472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40080" y="3474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188720" y="34290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Updating Your Bio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88720" y="36850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your about text or title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40080" y="3977640"/>
            <a:ext cx="365760" cy="365760"/>
          </a:xfrm>
          <a:prstGeom prst="ellipse">
            <a:avLst/>
          </a:prstGeom>
          <a:solidFill>
            <a:srgbClr val="4472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40080" y="3977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188720" y="39319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Cross-Reference IDs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188720" y="418795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researchers, projects, and publications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40080" y="4480560"/>
            <a:ext cx="365760" cy="365760"/>
          </a:xfrm>
          <a:prstGeom prst="ellipse">
            <a:avLst/>
          </a:prstGeom>
          <a:solidFill>
            <a:srgbClr val="4472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40080" y="4480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188720" y="44348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Inserting Images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188720" y="469087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pictures directly into cells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583680" y="1280160"/>
            <a:ext cx="2194560" cy="329184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766560" y="1463040"/>
            <a:ext cx="18288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A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Fact</a:t>
            </a:r>
            <a:endParaRPr lang="en-US" sz="14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Division website is automatically generated from the DataForSite.xlsx file.</a:t>
            </a:r>
            <a:endParaRPr lang="en-US" sz="1400" dirty="0"/>
          </a:p>
          <a:p>
            <a:pPr marL="0" indent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changes you make in the spreadsheet will be reflected on the website.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45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01: UNDERSTANDING THE SPREADSHEET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Spreadsheet Has Three Sheets</a:t>
            </a:r>
            <a:endParaRPr lang="en-US" sz="2600" dirty="0"/>
          </a:p>
        </p:txBody>
      </p:sp>
      <p:pic>
        <p:nvPicPr>
          <p:cNvPr id="5" name="Image 0" descr="/sessions/hopeful-zen-wright/img/overview_stru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71600"/>
            <a:ext cx="5486400" cy="24688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217920" y="1371600"/>
            <a:ext cx="2651760" cy="3200400"/>
          </a:xfrm>
          <a:prstGeom prst="rect">
            <a:avLst/>
          </a:prstGeom>
          <a:solidFill>
            <a:srgbClr val="F5F8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6217920" y="1371600"/>
            <a:ext cx="64008" cy="3200400"/>
          </a:xfrm>
          <a:prstGeom prst="rect">
            <a:avLst/>
          </a:prstGeom>
          <a:solidFill>
            <a:srgbClr val="00A3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446520" y="1508760"/>
            <a:ext cx="22860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sheet has:</a:t>
            </a:r>
            <a:endParaRPr lang="en-US" sz="12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ID column</a:t>
            </a:r>
            <a:endParaRPr lang="en-US" sz="1200" dirty="0"/>
          </a:p>
          <a:p>
            <a:pPr marL="0" lvl="1" indent="0">
              <a:buNone/>
            </a:pPr>
            <a:r>
              <a:rPr lang="en-US" sz="9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(unique number for each entry)</a:t>
            </a:r>
            <a:endParaRPr lang="en-US" sz="1200" dirty="0"/>
          </a:p>
          <a:p>
            <a:pPr marL="0" indent="0"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Name column</a:t>
            </a:r>
            <a:endParaRPr lang="en-US" sz="1200" dirty="0"/>
          </a:p>
          <a:p>
            <a:pPr marL="0" indent="0"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Cross-reference ID columns</a:t>
            </a:r>
            <a:endParaRPr lang="en-US" sz="1200" dirty="0"/>
          </a:p>
          <a:p>
            <a:pPr marL="0" lvl="1" indent="0">
              <a:buNone/>
            </a:pPr>
            <a:r>
              <a:rPr lang="en-US" sz="9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(to link entries together)</a:t>
            </a:r>
            <a:endParaRPr lang="en-US" sz="1200" dirty="0"/>
          </a:p>
          <a:p>
            <a:pPr marL="0" indent="0"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Image column</a:t>
            </a:r>
            <a:endParaRPr lang="en-US" sz="1200" dirty="0"/>
          </a:p>
          <a:p>
            <a:pPr marL="0" lvl="1" indent="0">
              <a:buNone/>
            </a:pPr>
            <a:r>
              <a:rPr lang="en-US" sz="9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(for embedded pictures)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45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01: UNDERSTANDING THE SPREADSHEET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Researchers Sheet — Columns</a:t>
            </a:r>
            <a:endParaRPr lang="en-US" sz="2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0090804"/>
              </p:ext>
            </p:extLst>
          </p:nvPr>
        </p:nvGraphicFramePr>
        <p:xfrm>
          <a:off x="457200" y="1371600"/>
          <a:ext cx="8229600" cy="256032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 Name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to Enter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researcher 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unique number (next available)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Researcher Name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Your full name with title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Dr. John Smith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Researcher Title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Your job title / role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Research Scientist, PhD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Researcher About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paragraph describing your work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Dr. Smith studies neural...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Researcher Project IDs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Comma-separated project IDs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1,3,5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Researcher Publication 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Comma-separated publication IDs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2,7,14,21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Researcher Image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Your photo (embedded in cell)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(see images section)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6" name="Image 0" descr="/sessions/hopeful-zen-wright/img/researchers_sheet.png"/>
          <p:cNvPicPr>
            <a:picLocks noChangeAspect="1"/>
          </p:cNvPicPr>
          <p:nvPr/>
        </p:nvPicPr>
        <p:blipFill>
          <a:blip r:embed="rId3"/>
          <a:srcRect t="30833" b="20484"/>
          <a:stretch>
            <a:fillRect/>
          </a:stretch>
        </p:blipFill>
        <p:spPr>
          <a:xfrm>
            <a:off x="457200" y="3957292"/>
            <a:ext cx="8229600" cy="114048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82880"/>
            <a:ext cx="9144000" cy="50292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45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02: ADDING YOURSELF AS A RESEARCHER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Step-by-Step: Add a New Researcher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344168"/>
            <a:ext cx="310896" cy="310896"/>
          </a:xfrm>
          <a:prstGeom prst="ellipse">
            <a:avLst/>
          </a:prstGeom>
          <a:solidFill>
            <a:srgbClr val="4472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344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132588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Researchers sheet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05840" y="152704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4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the "Researchers" tab at the bottom of the Excel window.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48640" y="1856232"/>
            <a:ext cx="310896" cy="310896"/>
          </a:xfrm>
          <a:prstGeom prst="ellipse">
            <a:avLst/>
          </a:prstGeom>
          <a:solidFill>
            <a:srgbClr val="4472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18562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183794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next empty row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05840" y="20391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4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Scroll down past the last researcher. The current last row is ID 22.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48640" y="2368296"/>
            <a:ext cx="310896" cy="310896"/>
          </a:xfrm>
          <a:prstGeom prst="ellipse">
            <a:avLst/>
          </a:prstGeom>
          <a:solidFill>
            <a:srgbClr val="4472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48640" y="23682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05840" y="235000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your ID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05840" y="255117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4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"researcher ID" column, type the next number (e.g. 23). This must be unique.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2880360"/>
            <a:ext cx="310896" cy="310896"/>
          </a:xfrm>
          <a:prstGeom prst="ellipse">
            <a:avLst/>
          </a:prstGeom>
          <a:solidFill>
            <a:srgbClr val="4472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48640" y="28803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05840" y="286207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in your details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05840" y="30632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4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your name, title, and about text in the corresponding columns.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48640" y="3392424"/>
            <a:ext cx="310896" cy="310896"/>
          </a:xfrm>
          <a:prstGeom prst="ellipse">
            <a:avLst/>
          </a:prstGeom>
          <a:solidFill>
            <a:srgbClr val="4472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48640" y="33924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05840" y="337413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cross-reference IDs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05840" y="357530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4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comma-separated project/publication IDs (e.g. "1,3,5").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48640" y="3904488"/>
            <a:ext cx="310896" cy="310896"/>
          </a:xfrm>
          <a:prstGeom prst="ellipse">
            <a:avLst/>
          </a:prstGeom>
          <a:solidFill>
            <a:srgbClr val="4472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48640" y="39044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05840" y="388620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your photo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05840" y="408736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4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Insert &gt; Pictures &gt; Place in Cell to embed your headshot.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303520" y="1325880"/>
            <a:ext cx="3474720" cy="3017520"/>
          </a:xfrm>
          <a:prstGeom prst="rect">
            <a:avLst/>
          </a:prstGeom>
          <a:solidFill>
            <a:srgbClr val="F5F8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5303520" y="1325880"/>
            <a:ext cx="64008" cy="3017520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0" y="1417320"/>
            <a:ext cx="274320" cy="274320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5852160" y="1417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Tips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5532120" y="1783080"/>
            <a:ext cx="30175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check the last ID before adding yours to avoid duplicates.</a:t>
            </a:r>
            <a:endParaRPr lang="en-US" sz="1000" dirty="0"/>
          </a:p>
          <a:p>
            <a:pPr marL="0" indent="0"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leave Project/Publication IDs blank and fill them in later.</a:t>
            </a:r>
            <a:endParaRPr lang="en-US" sz="1000" dirty="0"/>
          </a:p>
          <a:p>
            <a:pPr marL="0" indent="0"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your "About" text to 2-3 sentences for the website.</a:t>
            </a:r>
            <a:endParaRPr lang="en-US" sz="1000" dirty="0"/>
          </a:p>
          <a:p>
            <a:pPr marL="0" indent="0"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professional headshot for your image.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45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03: ADDING A PROJECT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Projects Sheet — Columns</a:t>
            </a:r>
            <a:endParaRPr lang="en-US" sz="2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5401696"/>
              </p:ext>
            </p:extLst>
          </p:nvPr>
        </p:nvGraphicFramePr>
        <p:xfrm>
          <a:off x="457200" y="1188720"/>
          <a:ext cx="8229600" cy="256032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 Name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to Enter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 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unique number (next available)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 Name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Short project name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Surgical AI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 Title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descriptive title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AI-Assisted Surgical Planning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 About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 of the project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This project explores the use...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 researcher IDs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Comma-separated researcher IDs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1,3,7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 Publication 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Comma-separated publication IDs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4,21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 Image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 embedded in cell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(see images section)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6" name="Image 0" descr="/sessions/hopeful-zen-wright/img/projects_sheet.png"/>
          <p:cNvPicPr>
            <a:picLocks noChangeAspect="1"/>
          </p:cNvPicPr>
          <p:nvPr/>
        </p:nvPicPr>
        <p:blipFill>
          <a:blip r:embed="rId3"/>
          <a:srcRect t="30101" b="20482"/>
          <a:stretch>
            <a:fillRect/>
          </a:stretch>
        </p:blipFill>
        <p:spPr>
          <a:xfrm>
            <a:off x="457200" y="3838470"/>
            <a:ext cx="8229600" cy="1192739"/>
          </a:xfrm>
          <a:prstGeom prst="rect">
            <a:avLst/>
          </a:prstGeom>
        </p:spPr>
      </p:pic>
      <p:sp>
        <p:nvSpPr>
          <p:cNvPr id="5" name="Text 3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45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03: ADDING A PROJECT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Step-by-Step: Add a New Project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344168"/>
            <a:ext cx="310896" cy="310896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344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132588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Projects sheet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05840" y="1527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4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the "Projects" tab at the bottom of Excel.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48640" y="1819656"/>
            <a:ext cx="310896" cy="310896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18196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180136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the next empty row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05840" y="200253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4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last project is currently ID 6. Your new project would be ID 7.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48640" y="2295144"/>
            <a:ext cx="310896" cy="310896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48640" y="22951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05840" y="2276856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a unique Project ID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05840" y="247802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4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the next number in the "Project id" column.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2770632"/>
            <a:ext cx="310896" cy="310896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48640" y="27706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05840" y="2752344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in name, title, and about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05840" y="295351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4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the project short name, full title, and a description.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48640" y="3246120"/>
            <a:ext cx="310896" cy="310896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48640" y="32461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05840" y="322783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researchers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05840" y="342900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4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"project researcher IDs", enter the researcher ID numbers separated by commas.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48640" y="3721608"/>
            <a:ext cx="310896" cy="310896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48640" y="37216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05840" y="370332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publications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05840" y="390448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4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"project Publication ID", enter publication IDs for related papers.</a:t>
            </a:r>
            <a:endParaRPr lang="en-US" sz="950" dirty="0"/>
          </a:p>
        </p:txBody>
      </p:sp>
      <p:sp>
        <p:nvSpPr>
          <p:cNvPr id="33" name="Text 30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45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04: ADDING A PUBLICATION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Publications Sheet — Columns</a:t>
            </a:r>
            <a:endParaRPr lang="en-US" sz="2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246888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 Name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to Enter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Publicatoin 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Unique number (next available)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publication Name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title of the paper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AI-Driven Diagnostics in...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publication journal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Journal name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Nature Communications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publication abstract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paper's abstract text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this study, we propose...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publication researcher IDs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Comma-separated researcher IDs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1,5,10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publication project 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project ID this relates 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publication Image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 embedded in cell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(see images section)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publication url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 to the paper (DOI preferred)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https://doi.org/10.1234/...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3886200"/>
            <a:ext cx="8229600" cy="731520"/>
          </a:xfrm>
          <a:prstGeom prst="rect">
            <a:avLst/>
          </a:prstGeom>
          <a:solidFill>
            <a:srgbClr val="F5F8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457200" y="3886200"/>
            <a:ext cx="64008" cy="731520"/>
          </a:xfrm>
          <a:prstGeom prst="rect">
            <a:avLst/>
          </a:prstGeom>
          <a:solidFill>
            <a:srgbClr val="4472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85800" y="393192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</a:t>
            </a: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column header reads "Publicatoin ID" (with a typo). While this was initially unintentional, please do not rename it, as the website parser expects this exact name.</a:t>
            </a:r>
            <a:endParaRPr lang="en-US" sz="1000" dirty="0"/>
          </a:p>
        </p:txBody>
      </p:sp>
      <p:sp>
        <p:nvSpPr>
          <p:cNvPr id="5" name="Text 6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45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04: ADDING A PUBLICATION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Step-by-Step: Add a New Publication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344168"/>
            <a:ext cx="310896" cy="310896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344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132588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Publications sheet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05840" y="1527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4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the "Publications" tab at the bottom of Excel.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48640" y="1819656"/>
            <a:ext cx="310896" cy="310896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18196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180136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next empty row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05840" y="200253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4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last publication is currently ID 55. Your new entry would be ID 56.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48640" y="2295144"/>
            <a:ext cx="310896" cy="310896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48640" y="22951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05840" y="2276856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a unique publication ID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05840" y="247802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4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the next number in the "Publicatoin ID" column.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2770632"/>
            <a:ext cx="310896" cy="310896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48640" y="27706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05840" y="2752344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in the publication details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05840" y="295351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4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the paper title, journal name, and abstract.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48640" y="3246120"/>
            <a:ext cx="310896" cy="310896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48640" y="32461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05840" y="322783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to researchers and project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05840" y="342900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4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researcher IDs (comma-separated) and the project ID.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48640" y="3721608"/>
            <a:ext cx="310896" cy="310896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48640" y="37216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05840" y="370332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 URL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05840" y="390448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4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the DOI link or direct URL to the paper.</a:t>
            </a:r>
            <a:endParaRPr lang="en-US" sz="950" dirty="0"/>
          </a:p>
        </p:txBody>
      </p:sp>
      <p:sp>
        <p:nvSpPr>
          <p:cNvPr id="33" name="Text 30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45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05: UPDATING YOUR BIO / ABOUT TEXT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to Update Your Information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347472" cy="347472"/>
          </a:xfrm>
          <a:prstGeom prst="ellipse">
            <a:avLst/>
          </a:prstGeom>
          <a:solidFill>
            <a:srgbClr val="4472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51560" y="1463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the Researchers sheet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892808"/>
            <a:ext cx="347472" cy="347472"/>
          </a:xfrm>
          <a:prstGeom prst="ellipse">
            <a:avLst/>
          </a:prstGeom>
          <a:solidFill>
            <a:srgbClr val="4472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18928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51560" y="1938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your row using your name or ID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368296"/>
            <a:ext cx="347472" cy="347472"/>
          </a:xfrm>
          <a:prstGeom prst="ellipse">
            <a:avLst/>
          </a:prstGeom>
          <a:solidFill>
            <a:srgbClr val="4472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48640" y="23682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51560" y="241401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the cell you want to edit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2843784"/>
            <a:ext cx="347472" cy="347472"/>
          </a:xfrm>
          <a:prstGeom prst="ellipse">
            <a:avLst/>
          </a:prstGeom>
          <a:solidFill>
            <a:srgbClr val="4472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48640" y="28437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51560" y="288950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your updated text and press Enter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3414783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 you can update: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3520440"/>
            <a:ext cx="4572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Researcher Name — your displayed name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Researcher Title — your role/position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Researcher About — your biography paragraph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Researcher Image — replace with a new photo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Project/Publication IDs — add new links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303520" y="1371600"/>
            <a:ext cx="3474720" cy="3200400"/>
          </a:xfrm>
          <a:prstGeom prst="rect">
            <a:avLst/>
          </a:prstGeom>
          <a:solidFill>
            <a:srgbClr val="F5F8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303520" y="1371600"/>
            <a:ext cx="64008" cy="3200400"/>
          </a:xfrm>
          <a:prstGeom prst="rect">
            <a:avLst/>
          </a:prstGeom>
          <a:solidFill>
            <a:srgbClr val="00A3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532120" y="1508760"/>
            <a:ext cx="30175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endParaRPr lang="en-US" sz="1100" b="1" dirty="0">
              <a:solidFill>
                <a:srgbClr val="E74C3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1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are not currently in the sheet, you can add yourself but do NOT change your Existing researcher ID — other entries depend on it. </a:t>
            </a:r>
          </a:p>
          <a:p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45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06: HOW CROSS-REFERENCE IDS WORK</a:t>
            </a:r>
            <a:endParaRPr lang="en-US" sz="1100" dirty="0"/>
          </a:p>
        </p:txBody>
      </p:sp>
      <p:pic>
        <p:nvPicPr>
          <p:cNvPr id="5" name="Image 0" descr="/sessions/hopeful-zen-wright/img/id_linking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672486"/>
            <a:ext cx="8595360" cy="447101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45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06: HOW CROSS-REFERENCE IDS WORK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Rules for Cross-Reference IDs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886200" cy="3383280"/>
          </a:xfrm>
          <a:prstGeom prst="rect">
            <a:avLst/>
          </a:prstGeom>
          <a:solidFill>
            <a:srgbClr val="F0FA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3886200" cy="411480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417320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138988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94360" y="1920240"/>
            <a:ext cx="35661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simple numbers: 1, 2, 3</a:t>
            </a:r>
            <a:endParaRPr lang="en-US" sz="1100" dirty="0"/>
          </a:p>
          <a:p>
            <a:pPr marL="0" indent="0"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multiple IDs with commas: 1,3,5</a:t>
            </a:r>
            <a:endParaRPr lang="en-US" sz="1100" dirty="0"/>
          </a:p>
          <a:p>
            <a:pPr marL="0" indent="0"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both sides: if you add project 2 to a researcher, also add that researcher's ID to project 2</a:t>
            </a:r>
            <a:endParaRPr lang="en-US" sz="1100" dirty="0"/>
          </a:p>
          <a:p>
            <a:pPr marL="0" indent="0"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IDs sequential: the next ID is always last + 1</a:t>
            </a:r>
            <a:endParaRPr lang="en-US" sz="1100" dirty="0"/>
          </a:p>
          <a:p>
            <a:pPr marL="0" indent="0"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Spaces after commas are OK: "1, 3, 5"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800600" y="1371600"/>
            <a:ext cx="3886200" cy="3383280"/>
          </a:xfrm>
          <a:prstGeom prst="rect">
            <a:avLst/>
          </a:prstGeom>
          <a:solidFill>
            <a:srgbClr val="FDF0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800600" y="1371600"/>
            <a:ext cx="3886200" cy="411480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1417320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257800" y="138988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4937760" y="1920240"/>
            <a:ext cx="35661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names instead of numbers</a:t>
            </a:r>
            <a:endParaRPr lang="en-US" sz="1100" dirty="0"/>
          </a:p>
          <a:p>
            <a:pPr marL="0" indent="0"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 an existing ID number</a:t>
            </a:r>
            <a:endParaRPr lang="en-US" sz="1100" dirty="0"/>
          </a:p>
          <a:p>
            <a:pPr marL="0" indent="0"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semicolons, slashes, or other separators (only commas)</a:t>
            </a:r>
            <a:endParaRPr lang="en-US" sz="1100" dirty="0"/>
          </a:p>
          <a:p>
            <a:pPr marL="0" indent="0"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numbers (use 23 after 22, not 25)</a:t>
            </a:r>
            <a:endParaRPr lang="en-US" sz="1100" dirty="0"/>
          </a:p>
          <a:p>
            <a:pPr marL="0" indent="0"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someone else's ID number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45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07: INSERTING IMAGES</a:t>
            </a:r>
            <a:endParaRPr lang="en-US" sz="1100" dirty="0"/>
          </a:p>
        </p:txBody>
      </p:sp>
      <p:pic>
        <p:nvPicPr>
          <p:cNvPr id="5" name="Image 0" descr="/sessions/hopeful-zen-wright/img/image_insert_diagram.png"/>
          <p:cNvPicPr>
            <a:picLocks noChangeAspect="1"/>
          </p:cNvPicPr>
          <p:nvPr/>
        </p:nvPicPr>
        <p:blipFill>
          <a:blip r:embed="rId3"/>
          <a:srcRect t="1635" b="8543"/>
          <a:stretch>
            <a:fillRect/>
          </a:stretch>
        </p:blipFill>
        <p:spPr>
          <a:xfrm>
            <a:off x="731520" y="814670"/>
            <a:ext cx="7680960" cy="410023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A3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Quick Reference Cheat Sheet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2651760" cy="2560320"/>
          </a:xfrm>
          <a:prstGeom prst="rect">
            <a:avLst/>
          </a:prstGeom>
          <a:solidFill>
            <a:srgbClr val="4472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4360" y="10972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Researcher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94360" y="1508760"/>
            <a:ext cx="23774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Researchers sheet</a:t>
            </a:r>
            <a:endParaRPr lang="en-US" sz="1000" dirty="0"/>
          </a:p>
          <a:p>
            <a:pPr marL="0" indent="0"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row, new unique ID</a:t>
            </a:r>
            <a:endParaRPr lang="en-US" sz="1000" dirty="0"/>
          </a:p>
          <a:p>
            <a:pPr marL="0" indent="0"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name, title, about</a:t>
            </a:r>
            <a:endParaRPr lang="en-US" sz="1000" dirty="0"/>
          </a:p>
          <a:p>
            <a:pPr marL="0" indent="0"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project/pub IDs</a:t>
            </a:r>
            <a:endParaRPr lang="en-US" sz="1000" dirty="0"/>
          </a:p>
          <a:p>
            <a:pPr marL="0" indent="0"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headshot image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91840" y="1005840"/>
            <a:ext cx="2651760" cy="256032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429000" y="10972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Project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429000" y="1508760"/>
            <a:ext cx="23774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Projects sheet</a:t>
            </a:r>
            <a:endParaRPr lang="en-US" sz="1000" dirty="0"/>
          </a:p>
          <a:p>
            <a:pPr marL="0" indent="0"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row, new unique ID</a:t>
            </a:r>
            <a:endParaRPr lang="en-US" sz="1000" dirty="0"/>
          </a:p>
          <a:p>
            <a:pPr marL="0" indent="0"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name, title, about</a:t>
            </a:r>
            <a:endParaRPr lang="en-US" sz="1000" dirty="0"/>
          </a:p>
          <a:p>
            <a:pPr marL="0" indent="0"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researcher/pub IDs</a:t>
            </a:r>
            <a:endParaRPr lang="en-US" sz="1000" dirty="0"/>
          </a:p>
          <a:p>
            <a:pPr marL="0" indent="0"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project image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126480" y="1005840"/>
            <a:ext cx="2651760" cy="256032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263640" y="10972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Publication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263640" y="1508760"/>
            <a:ext cx="23774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Publications sheet</a:t>
            </a:r>
            <a:endParaRPr lang="en-US" sz="1000" dirty="0"/>
          </a:p>
          <a:p>
            <a:pPr marL="0" indent="0"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row, new unique ID</a:t>
            </a:r>
            <a:endParaRPr lang="en-US" sz="1000" dirty="0"/>
          </a:p>
          <a:p>
            <a:pPr marL="0" indent="0"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title, journal, abstract</a:t>
            </a:r>
            <a:endParaRPr lang="en-US" sz="1000" dirty="0"/>
          </a:p>
          <a:p>
            <a:pPr marL="0" indent="0"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researcher/project IDs</a:t>
            </a:r>
            <a:endParaRPr lang="en-US" sz="1000" dirty="0"/>
          </a:p>
          <a:p>
            <a:pPr marL="0" indent="0"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DOI URL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3794760"/>
            <a:ext cx="8229600" cy="1051560"/>
          </a:xfrm>
          <a:prstGeom prst="rect">
            <a:avLst/>
          </a:prstGeom>
          <a:solidFill>
            <a:srgbClr val="0D21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57200" y="3794760"/>
            <a:ext cx="64008" cy="1051560"/>
          </a:xfrm>
          <a:prstGeom prst="rect">
            <a:avLst/>
          </a:prstGeom>
          <a:solidFill>
            <a:srgbClr val="00A3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85800" y="3840480"/>
            <a:ext cx="77724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0A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</a:t>
            </a:r>
            <a:endParaRPr lang="en-US" sz="1300" dirty="0"/>
          </a:p>
          <a:p>
            <a:pPr marL="0" indent="0"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IDs are simple numbers (1, 2, 3).  Use commas to list multiple IDs.  Always update both sides of a link.  Embed images with Insert &gt; Pictures &gt; Place in Cell.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1353</Words>
  <Application>Microsoft Macintosh PowerPoint</Application>
  <PresentationFormat>On-screen Show (16:9)</PresentationFormat>
  <Paragraphs>301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DataForSite.xlsx Editing Guide</dc:title>
  <dc:subject>PptxGenJS Presentation</dc:subject>
  <dc:creator>Northwell Health Division of Health AI</dc:creator>
  <cp:lastModifiedBy>Diego Gonzalez Garcia-Torres</cp:lastModifiedBy>
  <cp:revision>2</cp:revision>
  <dcterms:created xsi:type="dcterms:W3CDTF">2026-02-08T17:28:59Z</dcterms:created>
  <dcterms:modified xsi:type="dcterms:W3CDTF">2026-02-08T17:55:55Z</dcterms:modified>
</cp:coreProperties>
</file>